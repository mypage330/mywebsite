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tags/tag2.xml" ContentType="application/vnd.openxmlformats-officedocument.presentationml.tags+xml"/>
  <Override PartName="/ppt/tags/tag3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248" y="-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8E573-D5E6-41B9-831D-4CC3785931D6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BD3A-50B2-42FF-B80D-133491D5C1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8E573-D5E6-41B9-831D-4CC3785931D6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BD3A-50B2-42FF-B80D-133491D5C1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8E573-D5E6-41B9-831D-4CC3785931D6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BD3A-50B2-42FF-B80D-133491D5C1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8E573-D5E6-41B9-831D-4CC3785931D6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BD3A-50B2-42FF-B80D-133491D5C1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8E573-D5E6-41B9-831D-4CC3785931D6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BD3A-50B2-42FF-B80D-133491D5C1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8E573-D5E6-41B9-831D-4CC3785931D6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BD3A-50B2-42FF-B80D-133491D5C1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8E573-D5E6-41B9-831D-4CC3785931D6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BD3A-50B2-42FF-B80D-133491D5C1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8E573-D5E6-41B9-831D-4CC3785931D6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BD3A-50B2-42FF-B80D-133491D5C1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8E573-D5E6-41B9-831D-4CC3785931D6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BD3A-50B2-42FF-B80D-133491D5C1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8E573-D5E6-41B9-831D-4CC3785931D6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BD3A-50B2-42FF-B80D-133491D5C1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8E573-D5E6-41B9-831D-4CC3785931D6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BD3A-50B2-42FF-B80D-133491D5C1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E573-D5E6-41B9-831D-4CC3785931D6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FBD3A-50B2-42FF-B80D-133491D5C1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685800"/>
            <a:ext cx="5181600" cy="6172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914400" y="0"/>
            <a:ext cx="632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     </a:t>
            </a:r>
            <a:r>
              <a:rPr lang="hi-IN" sz="4000" b="1" dirty="0" smtClean="0">
                <a:solidFill>
                  <a:srgbClr val="FF0000"/>
                </a:solidFill>
              </a:rPr>
              <a:t>भारत की हाइड्रोजन ट्रेन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10200" y="762000"/>
            <a:ext cx="36576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hi-IN" sz="2000" b="1" dirty="0" smtClean="0"/>
              <a:t>भारत में हाइड्रोजन ट्रेन परियोजना की घोषणा भारतीय रेलवे ने की। </a:t>
            </a:r>
            <a:endParaRPr lang="en-US" sz="2000" b="1" dirty="0" smtClean="0"/>
          </a:p>
          <a:p>
            <a:pPr>
              <a:buFont typeface="Arial" pitchFamily="34" charset="0"/>
              <a:buChar char="•"/>
            </a:pPr>
            <a:endParaRPr lang="en-US" sz="2000" b="1" dirty="0" smtClean="0"/>
          </a:p>
          <a:p>
            <a:pPr>
              <a:buFont typeface="Arial" pitchFamily="34" charset="0"/>
              <a:buChar char="•"/>
            </a:pPr>
            <a:r>
              <a:rPr lang="hi-IN" sz="2000" b="1" dirty="0" smtClean="0"/>
              <a:t>यह परियोजना प्रधानमंत्री नरेंद्र मोदी के कार्यकाल में शुरू की गई।</a:t>
            </a:r>
            <a:endParaRPr lang="en-US" sz="2000" b="1" dirty="0" smtClean="0"/>
          </a:p>
          <a:p>
            <a:pPr>
              <a:buFont typeface="Arial" pitchFamily="34" charset="0"/>
              <a:buChar char="•"/>
            </a:pPr>
            <a:endParaRPr lang="en-US" sz="2000" b="1" dirty="0" smtClean="0"/>
          </a:p>
          <a:p>
            <a:pPr>
              <a:buFont typeface="Arial" pitchFamily="34" charset="0"/>
              <a:buChar char="•"/>
            </a:pPr>
            <a:r>
              <a:rPr lang="hi-IN" sz="2000" b="1" dirty="0" smtClean="0"/>
              <a:t> इसका उद्देश्य स्वच्छ (</a:t>
            </a:r>
            <a:r>
              <a:rPr lang="en-US" sz="2000" b="1" dirty="0" smtClean="0"/>
              <a:t>Green) </a:t>
            </a:r>
            <a:r>
              <a:rPr lang="hi-IN" sz="2000" b="1" dirty="0" smtClean="0"/>
              <a:t>परिवहन को बढ़ावा देना और प्रदूषण कम करना है।</a:t>
            </a:r>
            <a:endParaRPr lang="en-US" sz="2000" b="1" dirty="0" smtClean="0"/>
          </a:p>
          <a:p>
            <a:pPr>
              <a:buFont typeface="Arial" pitchFamily="34" charset="0"/>
              <a:buChar char="•"/>
            </a:pPr>
            <a:r>
              <a:rPr lang="hi-IN" sz="2000" b="1" dirty="0" smtClean="0"/>
              <a:t> </a:t>
            </a:r>
            <a:endParaRPr lang="en-US" sz="2000" b="1" dirty="0" smtClean="0"/>
          </a:p>
          <a:p>
            <a:pPr>
              <a:buFont typeface="Arial" pitchFamily="34" charset="0"/>
              <a:buChar char="•"/>
            </a:pPr>
            <a:r>
              <a:rPr lang="hi-IN" sz="2000" b="1" dirty="0" smtClean="0"/>
              <a:t>इस ट्रेन में हाइड्रोजन फ्यूल सेल तकनीक का उपयोग किया जाता है।</a:t>
            </a:r>
            <a:endParaRPr lang="en-US" sz="2000" b="1" dirty="0" smtClean="0"/>
          </a:p>
          <a:p>
            <a:pPr>
              <a:buFont typeface="Arial" pitchFamily="34" charset="0"/>
              <a:buChar char="•"/>
            </a:pPr>
            <a:endParaRPr lang="en-US" sz="2000" b="1" dirty="0" smtClean="0"/>
          </a:p>
          <a:p>
            <a:pPr>
              <a:buFont typeface="Arial" pitchFamily="34" charset="0"/>
              <a:buChar char="•"/>
            </a:pPr>
            <a:r>
              <a:rPr lang="hi-IN" sz="2000" b="1" dirty="0" smtClean="0"/>
              <a:t> फ्यूल सेल में हाइड्रोजन गैस से बिजली बनती है, जिससे ट्रेन चलती है।</a:t>
            </a:r>
            <a:endParaRPr lang="en-US" sz="2000" b="1" dirty="0"/>
          </a:p>
        </p:txBody>
      </p:sp>
    </p:spTree>
    <p:custDataLst>
      <p:tags r:id="rId1"/>
    </p:custDataLst>
  </p:cSld>
  <p:clrMapOvr>
    <a:masterClrMapping/>
  </p:clrMapOvr>
  <p:transition advTm="1684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838200"/>
            <a:ext cx="4191000" cy="6019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533400" y="15240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                                      </a:t>
            </a:r>
            <a:r>
              <a:rPr lang="hi-IN" sz="4000" b="1" dirty="0" smtClean="0">
                <a:solidFill>
                  <a:srgbClr val="FF0000"/>
                </a:solidFill>
              </a:rPr>
              <a:t>हाइड्रोजन गैस क्या है?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67200" y="914400"/>
            <a:ext cx="4876800" cy="566308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/>
              <a:t> </a:t>
            </a:r>
            <a:r>
              <a:rPr lang="hi-IN" sz="2200" b="1" dirty="0" smtClean="0"/>
              <a:t>हाइड्रोजन गैस का रासायनिक सूत्र </a:t>
            </a:r>
            <a:r>
              <a:rPr lang="en-US" sz="2200" b="1" dirty="0" smtClean="0"/>
              <a:t>H₂ </a:t>
            </a:r>
            <a:r>
              <a:rPr lang="hi-IN" sz="2200" b="1" dirty="0" smtClean="0"/>
              <a:t>है।</a:t>
            </a:r>
            <a:endParaRPr lang="en-US" sz="2200" b="1" dirty="0" smtClean="0"/>
          </a:p>
          <a:p>
            <a:pPr>
              <a:buFont typeface="Arial" pitchFamily="34" charset="0"/>
              <a:buChar char="•"/>
            </a:pPr>
            <a:endParaRPr lang="en-US" sz="2200" b="1" dirty="0" smtClean="0"/>
          </a:p>
          <a:p>
            <a:pPr>
              <a:buFont typeface="Arial" pitchFamily="34" charset="0"/>
              <a:buChar char="•"/>
            </a:pPr>
            <a:endParaRPr lang="en-US" sz="2200" b="1" dirty="0" smtClean="0"/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 </a:t>
            </a:r>
            <a:r>
              <a:rPr lang="hi-IN" sz="2200" b="1" dirty="0" smtClean="0"/>
              <a:t>यह ब्रह्मांड का सबसे हल्का तत्व है।</a:t>
            </a:r>
            <a:endParaRPr lang="en-US" sz="2200" b="1" dirty="0" smtClean="0"/>
          </a:p>
          <a:p>
            <a:pPr>
              <a:buFont typeface="Arial" pitchFamily="34" charset="0"/>
              <a:buChar char="•"/>
            </a:pPr>
            <a:endParaRPr lang="en-US" sz="2200" b="1" dirty="0" smtClean="0"/>
          </a:p>
          <a:p>
            <a:pPr>
              <a:buFont typeface="Arial" pitchFamily="34" charset="0"/>
              <a:buChar char="•"/>
            </a:pPr>
            <a:endParaRPr lang="en-US" sz="2200" b="1" dirty="0" smtClean="0"/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 </a:t>
            </a:r>
            <a:r>
              <a:rPr lang="hi-IN" sz="2200" b="1" dirty="0" smtClean="0"/>
              <a:t>यह रंगहीन, गंधहीन और स्वादहीन गैस है।</a:t>
            </a:r>
            <a:endParaRPr lang="en-US" sz="2200" b="1" dirty="0" smtClean="0"/>
          </a:p>
          <a:p>
            <a:pPr>
              <a:buFont typeface="Arial" pitchFamily="34" charset="0"/>
              <a:buChar char="•"/>
            </a:pPr>
            <a:endParaRPr lang="en-US" sz="2200" b="1" dirty="0" smtClean="0"/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 </a:t>
            </a:r>
            <a:r>
              <a:rPr lang="hi-IN" sz="2200" b="1" dirty="0" smtClean="0"/>
              <a:t>इसका परमाणु क्रमांक 1 है।</a:t>
            </a:r>
            <a:endParaRPr lang="en-US" sz="2200" b="1" dirty="0" smtClean="0"/>
          </a:p>
          <a:p>
            <a:pPr>
              <a:buFont typeface="Arial" pitchFamily="34" charset="0"/>
              <a:buChar char="•"/>
            </a:pPr>
            <a:endParaRPr lang="en-US" sz="2200" b="1" dirty="0" smtClean="0"/>
          </a:p>
          <a:p>
            <a:pPr>
              <a:buFont typeface="Arial" pitchFamily="34" charset="0"/>
              <a:buChar char="•"/>
            </a:pPr>
            <a:r>
              <a:rPr lang="hi-IN" sz="2200" b="1" dirty="0" smtClean="0"/>
              <a:t>यह दो हाइड्रोजन परमाणुओं से मिलकर बनती है।</a:t>
            </a:r>
            <a:endParaRPr lang="en-US" sz="2200" b="1" dirty="0" smtClean="0"/>
          </a:p>
          <a:p>
            <a:endParaRPr lang="en-US" sz="2200" b="1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US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ransition advTm="2661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1143000" y="152400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                                 </a:t>
            </a:r>
            <a:r>
              <a:rPr lang="hi-IN" sz="4800" b="1" dirty="0" smtClean="0">
                <a:solidFill>
                  <a:srgbClr val="FF0000"/>
                </a:solidFill>
              </a:rPr>
              <a:t>हाइड्रोजन गैस के गुण</a:t>
            </a:r>
            <a:endParaRPr lang="en-US" sz="3200" b="1" dirty="0">
              <a:solidFill>
                <a:srgbClr val="FF0000"/>
              </a:solidFill>
            </a:endParaRP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143000"/>
            <a:ext cx="4724400" cy="571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76800" y="1371600"/>
            <a:ext cx="3962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hi-IN" sz="2400" b="1" dirty="0" smtClean="0"/>
              <a:t>यह हवा से लगभग 14 गुना हल्की होती है।</a:t>
            </a:r>
            <a:endParaRPr lang="en-US" sz="2400" b="1" dirty="0" smtClean="0"/>
          </a:p>
          <a:p>
            <a:pPr>
              <a:buFont typeface="Arial" pitchFamily="34" charset="0"/>
              <a:buChar char="•"/>
            </a:pPr>
            <a:endParaRPr lang="en-US" sz="2400" b="1" dirty="0" smtClean="0"/>
          </a:p>
          <a:p>
            <a:pPr>
              <a:buFont typeface="Arial" pitchFamily="34" charset="0"/>
              <a:buChar char="•"/>
            </a:pPr>
            <a:r>
              <a:rPr lang="hi-IN" sz="2400" b="1" dirty="0" smtClean="0"/>
              <a:t>यह अत्यधिक ज्वलनशील (</a:t>
            </a:r>
            <a:r>
              <a:rPr lang="en-US" sz="2400" b="1" dirty="0" smtClean="0"/>
              <a:t>Highly Flammable) </a:t>
            </a:r>
            <a:r>
              <a:rPr lang="hi-IN" sz="2400" b="1" dirty="0" smtClean="0"/>
              <a:t>होती है।</a:t>
            </a:r>
            <a:endParaRPr lang="en-US" sz="2400" b="1" dirty="0" smtClean="0"/>
          </a:p>
          <a:p>
            <a:pPr>
              <a:buFont typeface="Arial" pitchFamily="34" charset="0"/>
              <a:buChar char="•"/>
            </a:pPr>
            <a:endParaRPr lang="en-US" sz="2400" b="1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hi-IN" sz="2400" b="1" dirty="0" smtClean="0"/>
              <a:t>जलने पर नीली लौ उत्पन्न करती है।</a:t>
            </a:r>
            <a:endParaRPr lang="en-US" sz="2400" b="1" dirty="0" smtClean="0"/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  <p:transition advTm="1589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1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1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6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5" dur="1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6" dur="1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56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1" dur="1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2" dur="1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52400"/>
            <a:ext cx="701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</a:t>
            </a:r>
            <a:r>
              <a:rPr lang="hi-IN" sz="4000" b="1" dirty="0" smtClean="0">
                <a:solidFill>
                  <a:srgbClr val="FF0000"/>
                </a:solidFill>
              </a:rPr>
              <a:t>हाइड्रोजन गैस की तैयारी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 descr="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990600"/>
            <a:ext cx="5257800" cy="5867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10200" y="1371600"/>
            <a:ext cx="36576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 </a:t>
            </a:r>
            <a:r>
              <a:rPr lang="hi-IN" sz="2400" b="1" dirty="0" smtClean="0"/>
              <a:t>प्रयोगशाला में हाइड्रोजन </a:t>
            </a:r>
            <a:r>
              <a:rPr lang="en-US" sz="2400" b="1" dirty="0" smtClean="0"/>
              <a:t>   </a:t>
            </a:r>
            <a:r>
              <a:rPr lang="hi-IN" sz="2400" b="1" dirty="0" smtClean="0"/>
              <a:t>गैस जिंक (</a:t>
            </a:r>
            <a:r>
              <a:rPr lang="en-US" sz="2400" b="1" dirty="0" smtClean="0"/>
              <a:t>Zn) </a:t>
            </a:r>
            <a:r>
              <a:rPr lang="hi-IN" sz="2400" b="1" dirty="0" smtClean="0"/>
              <a:t>और पतले </a:t>
            </a:r>
            <a:r>
              <a:rPr lang="en-US" sz="2400" b="1" dirty="0" smtClean="0"/>
              <a:t> </a:t>
            </a:r>
            <a:r>
              <a:rPr lang="hi-IN" sz="2400" b="1" dirty="0" smtClean="0"/>
              <a:t>हाइड्रोक्लोरिक अम्ल (</a:t>
            </a:r>
            <a:r>
              <a:rPr lang="en-US" sz="2400" b="1" dirty="0" err="1" smtClean="0"/>
              <a:t>HCl</a:t>
            </a:r>
            <a:r>
              <a:rPr lang="en-US" sz="2400" b="1" dirty="0" smtClean="0"/>
              <a:t>) </a:t>
            </a:r>
            <a:r>
              <a:rPr lang="hi-IN" sz="2400" b="1" dirty="0" smtClean="0"/>
              <a:t>की अभिक्रिया से बनाई जाती है।</a:t>
            </a:r>
            <a:endParaRPr lang="en-US" sz="2400" b="1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hi-IN" sz="2800" b="1" dirty="0" smtClean="0"/>
              <a:t>रासायनिक समीकरण</a:t>
            </a:r>
            <a:endParaRPr lang="en-US" sz="2800" b="1" dirty="0" smtClean="0"/>
          </a:p>
          <a:p>
            <a:r>
              <a:rPr lang="en-US" sz="2400" b="1" dirty="0" smtClean="0"/>
              <a:t>Zn + 2HCl → </a:t>
            </a:r>
            <a:r>
              <a:rPr lang="en-US" sz="2400" b="1" dirty="0" err="1" smtClean="0"/>
              <a:t>ZnCl</a:t>
            </a:r>
            <a:r>
              <a:rPr lang="en-US" sz="2400" b="1" dirty="0" smtClean="0"/>
              <a:t>₂ + H₂↑</a:t>
            </a:r>
            <a:endParaRPr lang="en-US" sz="2400" b="1" dirty="0"/>
          </a:p>
        </p:txBody>
      </p:sp>
    </p:spTree>
    <p:custDataLst>
      <p:tags r:id="rId1"/>
    </p:custDataLst>
  </p:cSld>
  <p:clrMapOvr>
    <a:masterClrMapping/>
  </p:clrMapOvr>
  <p:transition advTm="1631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6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56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"/>
            <a:ext cx="876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         </a:t>
            </a:r>
            <a:r>
              <a:rPr lang="hi-IN" sz="4000" b="1" dirty="0" smtClean="0">
                <a:solidFill>
                  <a:srgbClr val="FF0000"/>
                </a:solidFill>
              </a:rPr>
              <a:t>हाइड्रोजन गैस के उपयोग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3" name="Picture 2" descr="4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066800"/>
            <a:ext cx="9144000" cy="57912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756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3.3|1.8|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5.2|1.8|3.8|5.2|4.4|2.4|1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2.8|1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3.3|2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3|1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204</Words>
  <Application>Microsoft Office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ashish kumar saw</dc:creator>
  <cp:lastModifiedBy>ashish kumar saw</cp:lastModifiedBy>
  <cp:revision>20</cp:revision>
  <dcterms:created xsi:type="dcterms:W3CDTF">2026-07-21T10:12:31Z</dcterms:created>
  <dcterms:modified xsi:type="dcterms:W3CDTF">2026-07-21T15:22:41Z</dcterms:modified>
</cp:coreProperties>
</file>